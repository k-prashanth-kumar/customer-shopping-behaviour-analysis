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44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8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657600" cy="3657600"/>
          </a:xfrm>
          <a:prstGeom prst="ellipse">
            <a:avLst/>
          </a:prstGeom>
          <a:solidFill>
            <a:srgbClr val="2E6DA4">
              <a:alpha val="28000"/>
            </a:srgbClr>
          </a:solidFill>
          <a:ln w="12700">
            <a:solidFill>
              <a:srgbClr val="2E6DA4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017520"/>
            <a:ext cx="2194560" cy="219456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2E6DA4">
              <a:alpha val="22000"/>
            </a:srgbClr>
          </a:solidFill>
          <a:ln w="12700">
            <a:solidFill>
              <a:srgbClr val="2E6D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31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Shopping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Behaviour Analysis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347472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273552"/>
            <a:ext cx="1389888" cy="36576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735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30552" y="3273552"/>
            <a:ext cx="1389888" cy="365760"/>
          </a:xfrm>
          <a:prstGeom prst="roundRect">
            <a:avLst>
              <a:gd name="adj" fmla="val 3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32735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66744" y="3273552"/>
            <a:ext cx="1389888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6744" y="32735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26517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1444752"/>
            <a:ext cx="749808" cy="749808"/>
          </a:xfrm>
          <a:prstGeom prst="ellipse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527048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Customer Behaviour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87552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how different customer segments shop, what they buy, or what motivates their purchases.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115568"/>
            <a:ext cx="265176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444752"/>
            <a:ext cx="749808" cy="749808"/>
          </a:xfrm>
          <a:prstGeom prst="ellipse">
            <a:avLst/>
          </a:prstGeom>
          <a:solidFill>
            <a:srgbClr val="2E6DA4">
              <a:alpha val="82000"/>
            </a:srgbClr>
          </a:solidFill>
          <a:ln w="12700">
            <a:solidFill>
              <a:srgbClr val="2E6DA4">
                <a:alpha val="82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527048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↕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310128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 Unclear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3840480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46704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in spending across age groups, categories, and locations were not measured or understood.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53328" y="1115568"/>
            <a:ext cx="2651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13448" y="1444752"/>
            <a:ext cx="749808" cy="749808"/>
          </a:xfrm>
          <a:prstGeom prst="ellips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8200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527048"/>
            <a:ext cx="566928" cy="5669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44768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6163056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Decisions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693408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99632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analysis, the business had no way to identify what truly drives purchase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1316736"/>
            <a:ext cx="749808" cy="7498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31673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624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1832" y="2990088"/>
            <a:ext cx="146304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108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rows, 18 columns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values filled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 engineered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columns removed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1316736"/>
            <a:ext cx="749808" cy="749808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31673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624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2990088"/>
            <a:ext cx="146304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108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questions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 &amp; 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&amp; category trends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payment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13448" y="1316736"/>
            <a:ext cx="749808" cy="7498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31673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44768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44768" y="2624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47688" y="2990088"/>
            <a:ext cx="146304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310896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headline metrics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visual chart panels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slicer filters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location tables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60120"/>
            <a:ext cx="1920240" cy="1261872"/>
          </a:xfrm>
          <a:prstGeom prst="rect">
            <a:avLst/>
          </a:prstGeom>
          <a:solidFill>
            <a:srgbClr val="2E6DA4">
              <a:alpha val="38000"/>
            </a:srgbClr>
          </a:solidFill>
          <a:ln w="12700">
            <a:solidFill>
              <a:srgbClr val="2E6DA4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960120"/>
            <a:ext cx="1920240" cy="1261872"/>
          </a:xfrm>
          <a:prstGeom prst="rect">
            <a:avLst/>
          </a:prstGeom>
          <a:solidFill>
            <a:srgbClr val="2E6DA4">
              <a:alpha val="38000"/>
            </a:srgbClr>
          </a:solidFill>
          <a:ln w="12700">
            <a:solidFill>
              <a:srgbClr val="2E6DA4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10058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$233K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87168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20240" cy="1261872"/>
          </a:xfrm>
          <a:prstGeom prst="rect">
            <a:avLst/>
          </a:prstGeom>
          <a:solidFill>
            <a:srgbClr val="2E6DA4">
              <a:alpha val="38000"/>
            </a:srgbClr>
          </a:solidFill>
          <a:ln w="12700">
            <a:solidFill>
              <a:srgbClr val="2E6DA4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0058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1261872"/>
          </a:xfrm>
          <a:prstGeom prst="rect">
            <a:avLst/>
          </a:prstGeom>
          <a:solidFill>
            <a:srgbClr val="2E6DA4">
              <a:alpha val="38000"/>
            </a:srgbClr>
          </a:solidFill>
          <a:ln w="12700">
            <a:solidFill>
              <a:srgbClr val="2E6DA4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058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664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 Covered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907792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5292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30552" y="28529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198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30552" y="341985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Item, Color,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867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130552" y="39867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Amount, Season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907792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85292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9672" y="28529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Promo Code 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474720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4198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9672" y="341985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Rating, Shipping Type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4041648"/>
            <a:ext cx="6400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867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19672" y="39867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Subscription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6517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1444752"/>
            <a:ext cx="749808" cy="749808"/>
          </a:xfrm>
          <a:prstGeom prst="ellipse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52704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$104K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Revenue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87552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generates 45% of total revenue — nearly double Accessories at $74K.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115568"/>
            <a:ext cx="265176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444752"/>
            <a:ext cx="749808" cy="749808"/>
          </a:xfrm>
          <a:prstGeom prst="ellipse">
            <a:avLst/>
          </a:prstGeom>
          <a:solidFill>
            <a:srgbClr val="2E6DA4">
              <a:alpha val="82000"/>
            </a:srgbClr>
          </a:solidFill>
          <a:ln w="12700">
            <a:solidFill>
              <a:srgbClr val="2E6DA4">
                <a:alpha val="82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527048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$89K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3310128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 Customers Win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840480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46704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36–55 are the top spenders and the most reliable revenue segment.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53328" y="1115568"/>
            <a:ext cx="2651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13448" y="1444752"/>
            <a:ext cx="749808" cy="749808"/>
          </a:xfrm>
          <a:prstGeom prst="ellips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8200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527048"/>
            <a:ext cx="566928" cy="5669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6163056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Dominate Volume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693408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99632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make up 68% of customers, but females spend slightly more per order ($60.20 vs $59.53).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6517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1444752"/>
            <a:ext cx="749808" cy="749808"/>
          </a:xfrm>
          <a:prstGeom prst="ellipse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52704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Drive Volume Only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87552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customers used discounts. But discounted orders show the same average spend — discounts add volume, not basket size.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115568"/>
            <a:ext cx="265176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444752"/>
            <a:ext cx="749808" cy="749808"/>
          </a:xfrm>
          <a:prstGeom prst="ellipse">
            <a:avLst/>
          </a:prstGeom>
          <a:solidFill>
            <a:srgbClr val="2E6DA4">
              <a:alpha val="82000"/>
            </a:srgbClr>
          </a:solidFill>
          <a:ln w="12700">
            <a:solidFill>
              <a:srgbClr val="2E6DA4">
                <a:alpha val="82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527048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~Even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3310128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Stable Year-Round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840480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46704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leads at $60K but all four seasons are within $3,500 of each other. No seasonal dependency risk.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53328" y="1115568"/>
            <a:ext cx="2651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13448" y="1444752"/>
            <a:ext cx="749808" cy="749808"/>
          </a:xfrm>
          <a:prstGeom prst="ellips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8200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527048"/>
            <a:ext cx="566928" cy="5669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6163056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Methods Equal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693408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99632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payment options generate near-identical revenue. Customers have no dominant payment preference.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6517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1444752"/>
            <a:ext cx="749808" cy="749808"/>
          </a:xfrm>
          <a:prstGeom prst="ellipse">
            <a:avLst/>
          </a:prstGeom>
          <a:solidFill>
            <a:srgbClr val="1B3A6B">
              <a:alpha val="82000"/>
            </a:srgbClr>
          </a:solidFill>
          <a:ln w="12700">
            <a:solidFill>
              <a:srgbClr val="1B3A6B">
                <a:alpha val="82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52704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~Same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Don't Boost Spend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87552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the same per order as non-subscribers ($59.55 vs $59.85). Membership is not driving higher spend.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115568"/>
            <a:ext cx="265176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444752"/>
            <a:ext cx="749808" cy="749808"/>
          </a:xfrm>
          <a:prstGeom prst="ellipse">
            <a:avLst/>
          </a:prstGeom>
          <a:solidFill>
            <a:srgbClr val="2E6DA4">
              <a:alpha val="82000"/>
            </a:srgbClr>
          </a:solidFill>
          <a:ln w="12700">
            <a:solidFill>
              <a:srgbClr val="2E6DA4">
                <a:alpha val="82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527048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3310128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Doesn't Matter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840480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46704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shipping types show similar revenue and average spend. Customers accept any delivery option.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53328" y="1115568"/>
            <a:ext cx="2651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13448" y="1444752"/>
            <a:ext cx="749808" cy="749808"/>
          </a:xfrm>
          <a:prstGeom prst="ellipse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8200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527048"/>
            <a:ext cx="566928" cy="5669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23042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3.84★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6163056" y="28529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Drive Categories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693408" y="3474720"/>
            <a:ext cx="1371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99632" y="3538728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 leads ratings (3.84★). Blouse is the most purchased item. These hero products anchor each category.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01168" cy="3822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89888"/>
            <a:ext cx="713232" cy="713232"/>
          </a:xfrm>
          <a:prstGeom prst="ellipse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>
                <a:alpha val="8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72184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Middle-Aged Customers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programmes and personalised campaigns for ages 36–55. They generate the most revenue and respond well to targeted offers.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115568"/>
            <a:ext cx="201168" cy="382219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389888"/>
            <a:ext cx="713232" cy="713232"/>
          </a:xfrm>
          <a:prstGeom prst="ellipse">
            <a:avLst/>
          </a:prstGeom>
          <a:solidFill>
            <a:srgbClr val="2E6DA4">
              <a:alpha val="85000"/>
            </a:srgbClr>
          </a:solidFill>
          <a:ln w="12700">
            <a:solidFill>
              <a:srgbClr val="2E6DA4">
                <a:alpha val="85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472184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Discount Strategy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474720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0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smarter discounting. Tie offers to first-time buyers or orders above a set value — rather than blanket discounts for everyone.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53328" y="1115568"/>
            <a:ext cx="201168" cy="3822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19088" y="1389888"/>
            <a:ext cx="713232" cy="713232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472184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7648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Clothing &amp; Accessories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327648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27648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drive 75% of all revenue. Keep inventory stocked, increase variety, and lead all campaigns with these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01168" cy="3822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89888"/>
            <a:ext cx="713232" cy="713232"/>
          </a:xfrm>
          <a:prstGeom prst="ellipse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>
                <a:alpha val="8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72184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Female Customers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spend slightly more per order. A dedicated campaign with exclusive promotions could significantly grow their revenue contribution.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115568"/>
            <a:ext cx="201168" cy="382219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389888"/>
            <a:ext cx="713232" cy="713232"/>
          </a:xfrm>
          <a:prstGeom prst="ellipse">
            <a:avLst/>
          </a:prstGeom>
          <a:solidFill>
            <a:srgbClr val="2E6DA4">
              <a:alpha val="85000"/>
            </a:srgbClr>
          </a:solidFill>
          <a:ln w="12700">
            <a:solidFill>
              <a:srgbClr val="2E6DA4">
                <a:alpha val="85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472184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Subscription Programme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474720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0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the same as non-subscribers. Add real perks — exclusive access, free shipping, reward points — to make membership more valuable.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53328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53328" y="1115568"/>
            <a:ext cx="201168" cy="3822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19088" y="1389888"/>
            <a:ext cx="713232" cy="713232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472184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7648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High-Revenue States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327648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27648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Montana, Illinois, California, and Nevada generate the most orders. Focus paid advertising and regional promotions in these states for maximum ROI.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01168" cy="3822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89888"/>
            <a:ext cx="713232" cy="713232"/>
          </a:xfrm>
          <a:prstGeom prst="ellipse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>
                <a:alpha val="8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72184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Seasonal Campaigns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beat Clothing in Summer. Plan dedicated Summer campaigns around bags, sunglasses, and jewellery. Promote Outerwear heavily in Winter.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115568"/>
            <a:ext cx="26517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115568"/>
            <a:ext cx="201168" cy="3822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389888"/>
            <a:ext cx="713232" cy="713232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472184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231136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Top-Rated Products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474720" y="2852928"/>
            <a:ext cx="20574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0" y="2944368"/>
            <a:ext cx="22677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Backpacks, Jackets, and Shorts score the highest customer ratings. Feature them on the homepage, in email newsletters, and across social media.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Business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60934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consolidated into one interactive Power BI dashboard. No technical knowledge needed — built for business decision-makers.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450592"/>
            <a:ext cx="1828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487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$233K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8529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2450592"/>
            <a:ext cx="1828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1448" y="2487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41448" y="28529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255264"/>
            <a:ext cx="1828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$59.76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41448" y="3255264"/>
            <a:ext cx="1828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41448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41448" y="3657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059936"/>
            <a:ext cx="1828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3.75★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41448" y="4059936"/>
            <a:ext cx="1828800" cy="685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41448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41448" y="44622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097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Visuals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57276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572768"/>
            <a:ext cx="128016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700784"/>
            <a:ext cx="438912" cy="43891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596128" y="16276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596128" y="1920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$104K — Accessories $74K — Footwear $36K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239572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2395728"/>
            <a:ext cx="128016" cy="6949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523744"/>
            <a:ext cx="438912" cy="43891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96128" y="245059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5596128" y="2743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Age $89K — Young $70K — Senior $65K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846320" y="321868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846320" y="3218688"/>
            <a:ext cx="128016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3346704"/>
            <a:ext cx="438912" cy="43891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596128" y="327355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5596128" y="35661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revenue from discounted orders ($133K)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846320" y="404164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846320" y="4041648"/>
            <a:ext cx="128016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4169664"/>
            <a:ext cx="438912" cy="43891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596128" y="409651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 Locations Map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5596128" y="4389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Montana, Illinois, California &amp; Nevada lead orders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846320" y="4864608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46320" y="47548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Gender  ·  Season  ·  Subscription  ·  Location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92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Analysis Tells 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347472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64208"/>
            <a:ext cx="621792" cy="621792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73736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5024" y="162763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is Healthy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35024" y="20299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across all seasons, categories, and payment methods — a solid and resilient retail operation.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" y="2761488"/>
            <a:ext cx="621792" cy="621792"/>
          </a:xfrm>
          <a:prstGeom prst="ellipse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>
                <a:alpha val="8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83464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35024" y="27249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Opportunities Identified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35024" y="31272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 customers, female segments, and the subscription programme are clear, targeted areas for growth.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4360" y="3858768"/>
            <a:ext cx="621792" cy="621792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3192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35024" y="382219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Action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35024" y="422452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cleaned. Insights are clear. Dashboard is live. The only remaining step is execution.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9436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Prashanth   ·   Customer Shopping Behaviour Analysis   · 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875</Words>
  <Application>Microsoft Office PowerPoint</Application>
  <PresentationFormat>On-screen Show (16:9)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Prashanth</dc:creator>
  <cp:lastModifiedBy>Kallem Prashanth Kumar</cp:lastModifiedBy>
  <cp:revision>2</cp:revision>
  <dcterms:created xsi:type="dcterms:W3CDTF">2026-03-30T21:28:58Z</dcterms:created>
  <dcterms:modified xsi:type="dcterms:W3CDTF">2026-03-31T14:42:05Z</dcterms:modified>
</cp:coreProperties>
</file>